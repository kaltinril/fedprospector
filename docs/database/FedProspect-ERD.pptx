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FedProspect — Entity Relationship Diagram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High-Level Domain Overview  |  fed_contracts database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200400" cy="2286000"/>
          </a:xfrm>
          <a:prstGeom prst="roundRect">
            <a:avLst/>
          </a:prstGeom>
          <a:solidFill>
            <a:srgbClr val="BBDEFB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1E88E5"/>
                </a:solidFill>
              </a:defRPr>
            </a:pPr>
            <a:r>
              <a:t>Opportunities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opportunity</a:t>
            </a:r>
            <a:br/>
            <a:r>
              <a:t>opportunity_history</a:t>
            </a:r>
            <a:br/>
            <a:r>
              <a:t>opportunity_relationship</a:t>
            </a:r>
            <a:br/>
            <a:r>
              <a:t>opportunity_attachment</a:t>
            </a:r>
            <a:br/>
            <a:r>
              <a:t>opportunity_attachment_intel</a:t>
            </a:r>
            <a:br/>
            <a:r>
              <a:t>opportunity_intel_source</a:t>
            </a:r>
            <a:br/>
            <a:r>
              <a:t>opportunity_poc</a:t>
            </a:r>
            <a:br/>
            <a:r>
              <a:t>contracting_officer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200400" cy="22860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43A047"/>
                </a:solidFill>
              </a:defRPr>
            </a:pPr>
            <a:r>
              <a:t>Awards &amp; Contracts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usaspending_award</a:t>
            </a:r>
            <a:br/>
            <a:r>
              <a:t>usaspending_transaction</a:t>
            </a:r>
            <a:br/>
            <a:r>
              <a:t>fpds_contract</a:t>
            </a:r>
            <a:br/>
            <a:r>
              <a:t>gsa_labor_rate</a:t>
            </a:r>
            <a:br/>
            <a:r>
              <a:t>sam_subaward</a:t>
            </a:r>
            <a:br/>
            <a:r>
              <a:t>usaspending_load_checkpoint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188720"/>
            <a:ext cx="3200400" cy="2286000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FB8C00"/>
                </a:solidFill>
              </a:defRPr>
            </a:pPr>
            <a:r>
              <a:t>Entities (SAM.gov)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entity</a:t>
            </a:r>
            <a:br/>
            <a:r>
              <a:t>entity_address</a:t>
            </a:r>
            <a:br/>
            <a:r>
              <a:t>entity_naics</a:t>
            </a:r>
            <a:br/>
            <a:r>
              <a:t>entity_psc</a:t>
            </a:r>
            <a:br/>
            <a:r>
              <a:t>entity_business_type</a:t>
            </a:r>
            <a:br/>
            <a:r>
              <a:t>entity_sba_certification</a:t>
            </a:r>
            <a:br/>
            <a:r>
              <a:t>entity_poc</a:t>
            </a:r>
            <a:br/>
            <a:r>
              <a:t>entity_disaster_response</a:t>
            </a:r>
            <a:br/>
            <a:r>
              <a:t>entity_history</a:t>
            </a:r>
            <a:br/>
            <a:r>
              <a:t>sam_exclusion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029200" cy="2560320"/>
          </a:xfrm>
          <a:prstGeom prst="roundRect">
            <a:avLst/>
          </a:prstGeom>
          <a:solidFill>
            <a:srgbClr val="E1BEE7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7B1FA2"/>
                </a:solidFill>
              </a:defRPr>
            </a:pPr>
            <a:r>
              <a:t>Application (Multi-Tenant)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organization  |  app_user  |  app_session  |  organization_invite</a:t>
            </a:r>
            <a:br/>
            <a:r>
              <a:t>organization_naics  |  organization_certification  |  organization_past_performance</a:t>
            </a:r>
            <a:br/>
            <a:r>
              <a:t>organization_entity  |  prospect  |  prospect_note  |  prospect_team_member</a:t>
            </a:r>
            <a:br/>
            <a:r>
              <a:t>saved_search  |  notification  |  activity_log</a:t>
            </a:r>
            <a:br/>
            <a:r>
              <a:t>proposal  |  proposal_document  |  proposal_milestone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2560320" cy="2560320"/>
          </a:xfrm>
          <a:prstGeom prst="roundRect">
            <a:avLst/>
          </a:prstGeom>
          <a:solidFill>
            <a:srgbClr val="E0E0E0"/>
          </a:solidFill>
          <a:ln w="254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616161"/>
                </a:solidFill>
              </a:defRPr>
            </a:pPr>
            <a:r>
              <a:t>Reference Data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ref_naics_code</a:t>
            </a:r>
            <a:br/>
            <a:r>
              <a:t>ref_sba_size_standard</a:t>
            </a:r>
            <a:br/>
            <a:r>
              <a:t>ref_naics_footnote</a:t>
            </a:r>
            <a:br/>
            <a:r>
              <a:t>ref_psc_code</a:t>
            </a:r>
            <a:br/>
            <a:r>
              <a:t>ref_set_aside_type</a:t>
            </a:r>
            <a:br/>
            <a:r>
              <a:t>ref_sba_type</a:t>
            </a:r>
            <a:br/>
            <a:r>
              <a:t>ref_business_type</a:t>
            </a:r>
            <a:br/>
            <a:r>
              <a:t>ref_entity_structure</a:t>
            </a:r>
            <a:br/>
            <a:r>
              <a:t>ref_country_code  |  ref_state_code</a:t>
            </a:r>
            <a:br/>
            <a:r>
              <a:t>ref_fips_county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3931920"/>
            <a:ext cx="2194560" cy="2560320"/>
          </a:xfrm>
          <a:prstGeom prst="roundRect">
            <a:avLst/>
          </a:prstGeom>
          <a:solidFill>
            <a:srgbClr val="E0E0E0"/>
          </a:solidFill>
          <a:ln w="254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616161"/>
                </a:solidFill>
              </a:defRPr>
            </a:pPr>
            <a:r>
              <a:t>ETL Operational</a:t>
            </a:r>
          </a:p>
          <a:p>
            <a:pPr algn="ctr">
              <a:spcBef>
                <a:spcPts val="600"/>
              </a:spcBef>
              <a:defRPr sz="900">
                <a:solidFill>
                  <a:srgbClr val="424242"/>
                </a:solidFill>
              </a:defRPr>
            </a:pPr>
            <a:r>
              <a:t>etl_load_log</a:t>
            </a:r>
            <a:br/>
            <a:r>
              <a:t>etl_load_error</a:t>
            </a:r>
            <a:br/>
            <a:r>
              <a:t>etl_data_quality_rule</a:t>
            </a:r>
            <a:br/>
            <a:r>
              <a:t>etl_rate_limit</a:t>
            </a:r>
            <a:br/>
            <a:r>
              <a:t>etl_health_snapshot</a:t>
            </a:r>
            <a:br/>
            <a:r>
              <a:t>data_load_request</a:t>
            </a:r>
            <a:br/>
            <a:r>
              <a:t>ai_usage_log</a:t>
            </a:r>
            <a:br/>
            <a:r>
              <a:t>federal_organization</a:t>
            </a:r>
            <a:br/>
            <a:r>
              <a:t>stg_entity_raw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2286000"/>
            <a:ext cx="548640" cy="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4904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2286000"/>
            <a:ext cx="548640" cy="0"/>
          </a:xfrm>
          <a:prstGeom prst="line">
            <a:avLst/>
          </a:prstGeom>
          <a:ln w="1905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43A047"/>
                </a:solidFill>
              </a:defRPr>
            </a:pPr>
            <a:r>
              <a:t>N:1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6000" y="3474720"/>
            <a:ext cx="0" cy="45720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28800" y="35661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029200" y="3474720"/>
            <a:ext cx="4754880" cy="45720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49440" y="35661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N:M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Opportunity Domain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SAM.gov contract opportunities and attachment intelligence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56032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17320"/>
            <a:ext cx="2560320" cy="379476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notice_id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title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solicitation_number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department_name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sub_tier / office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posted_date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response_deadline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type / base_type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set_aside_code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VARCHAR(6)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classification_code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pop_state / pop_zip / pop_country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award_number / award_date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award_amount DECIMAL(15,2)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awardee_uei / awardee_name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description_url / description_text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active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first_loaded_at / last_loaded_at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10312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417320"/>
            <a:ext cx="2103120" cy="132588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BIGINT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field_name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old_value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new_value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changed_at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load_id 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1828800"/>
            <a:ext cx="365760" cy="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60320" y="16916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017520"/>
            <a:ext cx="210312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opportunity_relationship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3337560"/>
            <a:ext cx="2103120" cy="114300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parent_notice_id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child_notice_id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relationship_type VARCHAR(30)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created_by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notes TEXT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00400"/>
            <a:ext cx="365760" cy="27432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60320" y="3200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097280"/>
            <a:ext cx="237744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opportunity_attachment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1417320"/>
            <a:ext cx="2377440" cy="224028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attachment_id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url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filename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content_type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file_size_bytes BIGINT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file_path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extracted_text LONGTEXT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download_status ENUM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extraction_status ENUM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content_hash / text_hash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834640" y="2286000"/>
            <a:ext cx="2834640" cy="27432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94760" y="22860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7744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1E88E5"/>
                </a:solidFill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1031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1E88E5"/>
                </a:solidFill>
              </a:defRPr>
            </a:pPr>
            <a:r>
              <a:t>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1097280"/>
            <a:ext cx="274320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opportunity_attachment_intel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417320"/>
            <a:ext cx="2743200" cy="260604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intel_id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attachment_id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extraction_method ENUM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clearance_required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clearance_level / clearance_scope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eval_method / eval_details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vehicle_type / vehicle_details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is_recompete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incumbent_name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scope_summary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labor_categories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key_requirements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overall_confidence ENUM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46720" y="2286000"/>
            <a:ext cx="365760" cy="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297680"/>
            <a:ext cx="274320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opportunity_intel_source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617720"/>
            <a:ext cx="2743200" cy="178308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source_id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intel_id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field_name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attachment_id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source_filename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page_number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matched_text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pattern_name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extraction_method ENUM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confidence ENUM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0" y="4023360"/>
            <a:ext cx="0" cy="27432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0" y="4023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84048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1E88E5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29768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1E88E5"/>
                </a:solidFill>
              </a:defRPr>
            </a:pPr>
            <a:r>
              <a:t>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4754880"/>
            <a:ext cx="210312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opportunity_poc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5074920"/>
            <a:ext cx="2103120" cy="77724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poc_id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officer_id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poc_type VARCHAR(20)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5212080"/>
            <a:ext cx="914400" cy="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286000" y="5074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1:N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0" y="4572000"/>
            <a:ext cx="2377440" cy="32004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contracting_officer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892040"/>
            <a:ext cx="2377440" cy="132588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officer_id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full_name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email / phone / fax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title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department_name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office_name VARCHAR(200)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03520" y="5212080"/>
            <a:ext cx="365760" cy="0"/>
          </a:xfrm>
          <a:prstGeom prst="line">
            <a:avLst/>
          </a:prstGeom>
          <a:ln w="19050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0" y="5074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1E88E5"/>
                </a:solidFill>
              </a:defRPr>
            </a:pPr>
            <a:r>
              <a:t>N:1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Award &amp; Contract Domain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USASpending.gov awards, FPDS contracts, GSA rates, subawards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74320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usaspending_award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17320"/>
            <a:ext cx="2743200" cy="352044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generated_unique_award_id PK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piid / fain / uri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award_type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award_description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recipient_name / recipient_uei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recipient_parent_name / parent_uei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total_obligation DECIMAL(15,2)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base_and_all_options_value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start_date / end_date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awarding_agency_name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funding_agency_name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/ psc_code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type_of_set_aside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pop_state / pop_country / pop_zip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solicitation_identifier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fiscal_year SMALLINT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097280"/>
            <a:ext cx="237744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usaspending_transaction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417320"/>
            <a:ext cx="2377440" cy="150876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BIGINT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award_id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action_date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modification_number VARCHAR(25)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action_type VARCHAR(5)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federal_action_obligation DECIMAL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TEXT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2011680"/>
            <a:ext cx="365760" cy="0"/>
          </a:xfrm>
          <a:prstGeom prst="line">
            <a:avLst/>
          </a:prstGeom>
          <a:ln w="1905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0" y="1874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43A047"/>
                </a:solidFill>
              </a:defRPr>
            </a:pPr>
            <a:r>
              <a:t>1:N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43A047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2880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43A047"/>
                </a:solidFill>
              </a:defRPr>
            </a:pPr>
            <a: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200400"/>
            <a:ext cx="237744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usaspending_load_checkpoint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3520440"/>
            <a:ext cx="2377440" cy="132588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checkpoint_id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load_id INT FK (etl_load_log)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fiscal_year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csv_file_name VARCHAR(255)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ENUM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completed_batches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total_rows_loaded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archive_hash VARCHAR(130)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56032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fpds_contract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2560320" cy="379476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contract_id + modification_number PK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idv_piid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agency_id / agency_name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contracting_office_id / 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funding_agency_id / 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vendor_uei / vendor_name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date_signed / effective_date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completion_date / ultimate_compl.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dollars_obligated DECIMAL(15,2)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base_and_all_options DECIMAL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/ psc_code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set_aside_type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type_of_contract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solicitation_number /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number_of_offers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097280"/>
            <a:ext cx="256032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sam_subaward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417320"/>
            <a:ext cx="2560320" cy="260604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prime_piid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prime_agency_id / prime_agency_name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prime_uei / prime_name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sub_uei / sub_name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sub_amount DECIMAL(15,2)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/ psc_code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sub_business_type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pop_state / pop_country / pop_zip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4389120"/>
            <a:ext cx="2560320" cy="32004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gsa_labor_rate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4709160"/>
            <a:ext cx="2560320" cy="1691640"/>
          </a:xfrm>
          <a:prstGeom prst="rect">
            <a:avLst/>
          </a:prstGeom>
          <a:solidFill>
            <a:srgbClr val="C8E6C9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labor_category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education_level / min_years_exp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current_price / next_year_price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schedule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contractor_name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sin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business_size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security_clearance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idv_piid VARCHAR(50)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43A047"/>
                </a:solidFill>
              </a:defRPr>
            </a:pPr>
            <a:r>
              <a:t>Linked by: solicitation_identifier &lt;-&gt; solicitation_number, piid, vendor_uei/recipient_uei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Entity Domain (SAM.gov)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Contractor registrations, certifications, exclusions, and points of contact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292608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17320"/>
            <a:ext cx="2926080" cy="333756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uei_sam VARCHAR(12)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cage_code VARCHAR(5)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registration_status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legal_business_name VARCHAR(120)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dba_name VARCHAR(120)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entity_url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primary_naics VARCHAR(6)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entity_structure_code VARCHAR(2)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state_of_incorporation VARCHAR(2)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country_of_incorporation VARCHAR(3)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exclusion_status_flag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initial_registration_date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registration_expiration_date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first_loaded_at / last_loaded_at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228600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entity_address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286000" cy="114300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address_type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address_line_1/2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city / state_or_province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zip_code / country_code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828800"/>
            <a:ext cx="1554480" cy="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880360" y="16916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6459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FB8C00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459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FB8C00"/>
                </a:solidFill>
              </a:defRPr>
            </a:pPr>
            <a: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834640"/>
            <a:ext cx="228600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entity_naics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154680"/>
            <a:ext cx="2286000" cy="86868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VARCHAR(11)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is_primary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sba_small_business CHAR(1)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560320" y="2926080"/>
            <a:ext cx="1554480" cy="45720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8803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97680"/>
            <a:ext cx="228600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entity_psc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17720"/>
            <a:ext cx="2286000" cy="59436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psc_code VARCHAR(10)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560320" y="4114800"/>
            <a:ext cx="1554480" cy="54864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80360" y="4251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5486400"/>
            <a:ext cx="228600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entity_business_type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806440"/>
            <a:ext cx="2286000" cy="59436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business_type_code VARCHAR(4)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560320" y="4572000"/>
            <a:ext cx="1554480" cy="118872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880360" y="50292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097280"/>
            <a:ext cx="256032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417320"/>
            <a:ext cx="2560320" cy="150876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poc_type VARCHAR(40)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first_name / last_name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title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address / city / state / zip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40880" y="2011680"/>
            <a:ext cx="457199" cy="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12279" y="1874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3200400"/>
            <a:ext cx="256032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entity_sba_certification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3520440"/>
            <a:ext cx="2560320" cy="105156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sba_type_code / sba_type_desc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certification_entry_date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certification_exit_date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40880" y="3474720"/>
            <a:ext cx="457199" cy="18288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12279" y="34290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79" y="4846320"/>
            <a:ext cx="256032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entity_disaster_response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5166360"/>
            <a:ext cx="2560320" cy="86868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state_code / state_name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county_code / county_name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msa_code / msa_name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40880" y="4572000"/>
            <a:ext cx="457199" cy="731520"/>
          </a:xfrm>
          <a:prstGeom prst="line">
            <a:avLst/>
          </a:prstGeom>
          <a:ln w="19050">
            <a:solidFill>
              <a:srgbClr val="FB8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12279" y="4800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FB8C00"/>
                </a:solidFill>
              </a:defRPr>
            </a:pPr>
            <a:r>
              <a:t>1:N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32720" y="1097280"/>
            <a:ext cx="1554480" cy="320040"/>
          </a:xfrm>
          <a:prstGeom prst="roundRect">
            <a:avLst/>
          </a:prstGeom>
          <a:solidFill>
            <a:srgbClr val="FB8C00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entity_history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1417320"/>
            <a:ext cx="1554480" cy="1325880"/>
          </a:xfrm>
          <a:prstGeom prst="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id BIGINT AUTO_INC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uei_sam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field_name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old_value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new_value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changed_at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load_id INT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0" y="5029200"/>
            <a:ext cx="2926080" cy="320040"/>
          </a:xfrm>
          <a:prstGeom prst="roundRect">
            <a:avLst/>
          </a:prstGeom>
          <a:solidFill>
            <a:srgbClr val="E53935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sam_exclusion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5349240"/>
            <a:ext cx="2926080" cy="1325880"/>
          </a:xfrm>
          <a:prstGeom prst="rect">
            <a:avLst/>
          </a:prstGeom>
          <a:solidFill>
            <a:srgbClr val="FFCDD2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 VARCHAR(12)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cage_code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entity_name / first_name / last_name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exclusion_type / exclusion_program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excluding_agency_code / 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activation_date / termination_date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66751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E53935"/>
                </a:solidFill>
              </a:defRPr>
            </a:pPr>
            <a:r>
              <a:t>sam_exclusion links to entity by uei (logical, no FK constraint)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Application Domain (Multi-Tenant)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Organizations, users, prospects, proposals, and saved searches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56032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17320"/>
            <a:ext cx="2560320" cy="242316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organization_id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name / slug VARCHAR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is_active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max_users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subscription_tier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legal_name / dba_name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/ cage_code / ein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phone / website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address / city / state / zip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annual_revenue DECIMAL(18,2)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employee_count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profile_completed CHAR(1)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2860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app_user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417320"/>
            <a:ext cx="2286000" cy="196596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user_id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organization_id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username / display_name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email / password_hash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role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is_org_admin / org_role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is_system_admin TINYINT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mfa_enabled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last_login_at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is_active CHAR(1)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228600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6032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1031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7B1FA2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7B1FA2"/>
                </a:solidFill>
              </a:defRPr>
            </a:pPr>
            <a: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097280"/>
            <a:ext cx="256032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prospect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417320"/>
            <a:ext cx="2560320" cy="260604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prospect_id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organization_id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assigned_to INT FK (app_user)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capture_manager_id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VARCHAR(30)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priority / decision_date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estimated_value DECIMAL(15,2)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win_probability DECIMAL(5,2)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go_no_go_score DECIMAL(5,2)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teaming_required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outcome / outcome_date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228600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1208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1031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7B1FA2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10312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7B1FA2"/>
                </a:solidFill>
              </a:defRPr>
            </a:pPr>
            <a:r>
              <a:t>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097280"/>
            <a:ext cx="201168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prospect_note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417320"/>
            <a:ext cx="2011680" cy="86868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note_id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prospect_id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user_id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note_type VARCHAR(30)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note_text 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0" y="164592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38160" y="1508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560320"/>
            <a:ext cx="201168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prospect_team_member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880360"/>
            <a:ext cx="2011680" cy="96012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prospect_id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app_user_id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role / notes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proposed_hourly_rate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0" y="301752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38160" y="2880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389120"/>
            <a:ext cx="256032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proposal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4709160"/>
            <a:ext cx="2560320" cy="114300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proposal_id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prospect_id INT FK (1:1)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proposal_number / status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submission_deadline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estimated_value / win_prob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lessons_learned TEXT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0" y="4023360"/>
            <a:ext cx="0" cy="36576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75120" y="4069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4114800"/>
            <a:ext cx="201168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proposal_document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0" y="4434840"/>
            <a:ext cx="2011680" cy="77724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document_id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proposal_id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document_type / file_name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uploaded_by INT FK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12480" y="466344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138160" y="4526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5394960"/>
            <a:ext cx="201168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proposal_milestone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5715000"/>
            <a:ext cx="2011680" cy="77724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milestone_id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proposal_id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milestone_name / due_date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assigned_to INT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VARCHAR(20)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0" y="5760720"/>
            <a:ext cx="365760" cy="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38160" y="5623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11480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organization_naics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434840"/>
            <a:ext cx="1828800" cy="50292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id | organization_id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naics_code | is_primary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size_standard_met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88720" y="3840480"/>
            <a:ext cx="0" cy="274320"/>
          </a:xfrm>
          <a:prstGeom prst="line">
            <a:avLst/>
          </a:prstGeom>
          <a:ln w="1905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1520" y="3840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B1FA2"/>
                </a:solidFill>
              </a:defRPr>
            </a:pPr>
            <a:r>
              <a:t>1:N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12064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organization_certification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40680"/>
            <a:ext cx="1828800" cy="50292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id | organization_id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certification_type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expiration_date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612648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organization_past_perf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6446520"/>
            <a:ext cx="1828800" cy="22860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id | org_id FK | contract_no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411480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organization_entity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0" y="4434840"/>
            <a:ext cx="1828800" cy="50292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id | organization_id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uei_sam FK | relationship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partner_uei | is_active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00400" y="3657600"/>
            <a:ext cx="22860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saved_search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977640"/>
            <a:ext cx="2286000" cy="77724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search_id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organization_id / user_id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search_name / filter_criteria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notification_enabled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auto_prospect_enabled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0" y="512064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notification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0" y="5440680"/>
            <a:ext cx="1828800" cy="41148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notification_id | user_id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type / title / is_read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86000" y="603504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activity_log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6355080"/>
            <a:ext cx="1828800" cy="41148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activity_id | org_id / user_id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action / entity_type / details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89120" y="502920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app_session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0" y="5349240"/>
            <a:ext cx="1828800" cy="41148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session_id | user_id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token_hash | expires_at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89120" y="5943600"/>
            <a:ext cx="1828800" cy="320040"/>
          </a:xfrm>
          <a:prstGeom prst="roundRect">
            <a:avLst/>
          </a:prstGeom>
          <a:solidFill>
            <a:srgbClr val="7B1FA2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organization_invite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6263640"/>
            <a:ext cx="1828800" cy="411480"/>
          </a:xfrm>
          <a:prstGeom prst="rect">
            <a:avLst/>
          </a:prstGeom>
          <a:solidFill>
            <a:srgbClr val="E1BEE7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700" b="1">
                <a:solidFill>
                  <a:srgbClr val="000000"/>
                </a:solidFill>
              </a:defRPr>
            </a:pPr>
            <a:r>
              <a:t>PK invite_id | org_id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000000"/>
                </a:solidFill>
              </a:defRPr>
            </a:pPr>
            <a:r>
              <a:t>   email | invite_code | org_role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ETL &amp; Operational Tables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Load tracking, error logging, data quality, rate limiting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7432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etl_load_log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2743200" cy="24231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load_id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source_system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load_type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started_at / completed_at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records_read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records_inserted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records_updated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records_unchanged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records_errored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error_message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parameters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source_file VARCHAR(500)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18872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etl_load_error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508760"/>
            <a:ext cx="2560320" cy="132588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BIGINT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load_id INT FK (etl_load_log)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record_identifier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error_type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error_message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raw_data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created_at DATETIME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011680"/>
            <a:ext cx="365760" cy="0"/>
          </a:xfrm>
          <a:prstGeom prst="line">
            <a:avLst/>
          </a:prstGeom>
          <a:ln w="19050">
            <a:solidFill>
              <a:srgbClr val="6161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26080" y="1874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616161"/>
                </a:solidFill>
              </a:defRPr>
            </a:pPr>
            <a:r>
              <a:t>1:N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2880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616161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2880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616161"/>
                </a:solidFill>
              </a:defRPr>
            </a:pPr>
            <a: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10896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etl_data_quality_rule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3429000"/>
            <a:ext cx="2560320" cy="114300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rule_id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rule_name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target_table / target_column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rule_type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rule_definition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is_active / priority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18872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etl_rate_limit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508760"/>
            <a:ext cx="2560320" cy="10515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source_system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request_date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requests_made / max_requests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last_request_at DATETIME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83464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etl_health_snapshot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154680"/>
            <a:ext cx="2560320" cy="10515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snapshot_id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checked_at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overall_status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results_json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alert_count / error_count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stale_source_count 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48056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data_load_request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800600"/>
            <a:ext cx="2560320" cy="132588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request_id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request_type VARCHAR(30)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lookup_key / lookup_key_type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requested_by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started_at / completed_at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load_id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error_message / result_summary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2743200" cy="320040"/>
          </a:xfrm>
          <a:prstGeom prst="roundRect">
            <a:avLst/>
          </a:prstGeom>
          <a:solidFill>
            <a:srgbClr val="009688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federal_organization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26280"/>
            <a:ext cx="2743200" cy="1965960"/>
          </a:xfrm>
          <a:prstGeom prst="rect">
            <a:avLst/>
          </a:prstGeom>
          <a:solidFill>
            <a:srgbClr val="B2DFDB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fh_org_id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fh_org_name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fh_org_type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status VARCHAR(20)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agency_code / cgac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parent_org_id INT (self-ref)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level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created_date / last_modified_date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record_hash CHAR(64)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84632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ai_usage_log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5166360"/>
            <a:ext cx="2560320" cy="114300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usage_id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notice_id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attachment_id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model VARCHAR(50)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input_tokens / output_tokens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cache_read / cache_write tokens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cost_usd DECIMAL(10,6)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requested_by 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188720"/>
            <a:ext cx="22860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stg_entity_raw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508760"/>
            <a:ext cx="2286000" cy="15087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load_id 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uei_sam VARCHAR(12)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raw_json JSON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raw_record_hash CHAR(64)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processed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processed_at DATETIME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error_message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6576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16161"/>
                </a:solidFill>
              </a:defRPr>
            </a:pPr>
            <a:r>
              <a:t>Referenced by all domain tables:</a:t>
            </a:r>
          </a:p>
          <a:p>
            <a:pPr>
              <a:defRPr sz="800">
                <a:solidFill>
                  <a:srgbClr val="616161"/>
                </a:solidFill>
              </a:defRPr>
            </a:pPr>
            <a:r>
              <a:t>Every data table has last_load_id linking back to etl_load_log.load_id for load provenance tracking.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Reference / Lookup Tables</a:t>
            </a:r>
          </a:p>
          <a:p>
            <a:pPr algn="l">
              <a:defRPr sz="1400">
                <a:solidFill>
                  <a:srgbClr val="B0BEC5"/>
                </a:solidFill>
              </a:defRPr>
            </a:pPr>
            <a:r>
              <a:t>Loaded from CSV files, updated infrequently  |  Prefixed with ref_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ref_naics_code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508760"/>
            <a:ext cx="256032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naics_code VARCHAR(11)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VARCHAR(500)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code_level TINYINT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level_name VARCHAR(30)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parent_code VARCHAR(11)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year_version VARCHAR(4)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is_active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footnote_id VARCHAR(5)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188720"/>
            <a:ext cx="237744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ref_sba_size_standard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508760"/>
            <a:ext cx="2377440" cy="114300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id INT AUTO_INCREMENT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naics_code VARCHAR(11) FK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industry_description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size_standard DECIMAL(13,2)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size_type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effective_date DATE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1920240"/>
            <a:ext cx="274320" cy="0"/>
          </a:xfrm>
          <a:prstGeom prst="line">
            <a:avLst/>
          </a:prstGeom>
          <a:ln w="19050">
            <a:solidFill>
              <a:srgbClr val="6161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14600" y="1783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616161"/>
                </a:solidFill>
              </a:defRPr>
            </a:pPr>
            <a:r>
              <a:t>1:N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73736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616161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737360"/>
            <a:ext cx="548640" cy="182880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pPr algn="ctr">
              <a:defRPr sz="700" b="1">
                <a:solidFill>
                  <a:srgbClr val="616161"/>
                </a:solidFill>
              </a:defRPr>
            </a:pPr>
            <a: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2926080"/>
            <a:ext cx="237744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ref_naics_footnote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3246120"/>
            <a:ext cx="2377440" cy="5943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footnote_id + section PK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188720"/>
            <a:ext cx="27432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ref_psc_code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508760"/>
            <a:ext cx="2743200" cy="19659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psc_code + start_date PK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psc_name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end_date DATE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full_description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psc_includes / psc_excludes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psc_notes TEXT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parent_psc_code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category_type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level1_category_code / name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level2_category_code /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188720"/>
            <a:ext cx="27432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ref_set_aside_type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1508760"/>
            <a:ext cx="2743200" cy="10515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set_aside_code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is_small_business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category VARCHAR(50)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743200"/>
            <a:ext cx="27432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ref_sba_type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063240"/>
            <a:ext cx="2743200" cy="77724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sba_type_code VARCHAR(10)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program_name VARCHAR(100)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65760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ref_business_type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77640"/>
            <a:ext cx="2560320" cy="10515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business_type_code VARCHAR(4)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VARCHAR(200)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classification / category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is_socioeconomic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is_small_business_related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5303520"/>
            <a:ext cx="256032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ref_entity_structure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623560"/>
            <a:ext cx="2560320" cy="5943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structure_code VARCHAR(2)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description VARCHAR(200)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4114800"/>
            <a:ext cx="237744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ref_country_code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4434840"/>
            <a:ext cx="2377440" cy="10515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three_code VARCHAR(3)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country_name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two_code VARCHAR(2)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numeric_code VARCHAR(4)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is_iso_standard CHAR(1)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sam_gov_recognized CHAR(1)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840480"/>
            <a:ext cx="22860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ref_state_code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4160520"/>
            <a:ext cx="2286000" cy="5943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state_code + country_code PK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state_name VARCHAR(60)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5029200"/>
            <a:ext cx="2286000" cy="320040"/>
          </a:xfrm>
          <a:prstGeom prst="roundRect">
            <a:avLst/>
          </a:prstGeom>
          <a:solidFill>
            <a:srgbClr val="616161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ref_fips_county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5349240"/>
            <a:ext cx="2286000" cy="594360"/>
          </a:xfrm>
          <a:prstGeom prst="rect">
            <a:avLst/>
          </a:prstGeom>
          <a:solidFill>
            <a:srgbClr val="E0E0E0"/>
          </a:solidFill>
          <a:ln w="1270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defRPr sz="800" b="1">
                <a:solidFill>
                  <a:srgbClr val="000000"/>
                </a:solidFill>
              </a:defRPr>
            </a:pPr>
            <a:r>
              <a:t>PK fips_code VARCHAR(5)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county_name VARCHAR(100)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000000"/>
                </a:solidFill>
              </a:defRPr>
            </a:pPr>
            <a:r>
              <a:t>   state_name VARCHAR(60)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1148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16161"/>
                </a:solidFill>
              </a:defRPr>
            </a:pPr>
            <a:r>
              <a:t>Referenced by:</a:t>
            </a:r>
          </a:p>
          <a:p>
            <a:pPr>
              <a:spcBef>
                <a:spcPts val="400"/>
              </a:spcBef>
              <a:defRPr sz="800" b="1">
                <a:solidFill>
                  <a:srgbClr val="616161"/>
                </a:solidFill>
              </a:defRPr>
            </a:pPr>
            <a:r>
              <a:t>ref_naics_code</a:t>
            </a:r>
          </a:p>
          <a:p>
            <a:pPr>
              <a:defRPr sz="700">
                <a:solidFill>
                  <a:srgbClr val="757575"/>
                </a:solidFill>
              </a:defRPr>
            </a:pPr>
            <a:r>
              <a:t>  -&gt; opportunity.naics_code, entity.primary_naics, entity_naics.naics_code, usaspending_award.naics_code, fpds_contract.naics_code</a:t>
            </a:r>
          </a:p>
          <a:p>
            <a:pPr>
              <a:spcBef>
                <a:spcPts val="400"/>
              </a:spcBef>
              <a:defRPr sz="800" b="1">
                <a:solidFill>
                  <a:srgbClr val="616161"/>
                </a:solidFill>
              </a:defRPr>
            </a:pPr>
            <a:r>
              <a:t>ref_psc_code</a:t>
            </a:r>
          </a:p>
          <a:p>
            <a:pPr>
              <a:defRPr sz="700">
                <a:solidFill>
                  <a:srgbClr val="757575"/>
                </a:solidFill>
              </a:defRPr>
            </a:pPr>
            <a:r>
              <a:t>  -&gt; entity_psc.psc_code, usaspending_award.psc_code, fpds_contract.psc_code</a:t>
            </a:r>
          </a:p>
          <a:p>
            <a:pPr>
              <a:spcBef>
                <a:spcPts val="400"/>
              </a:spcBef>
              <a:defRPr sz="800" b="1">
                <a:solidFill>
                  <a:srgbClr val="616161"/>
                </a:solidFill>
              </a:defRPr>
            </a:pPr>
            <a:r>
              <a:t>ref_set_aside_type</a:t>
            </a:r>
          </a:p>
          <a:p>
            <a:pPr>
              <a:defRPr sz="700">
                <a:solidFill>
                  <a:srgbClr val="757575"/>
                </a:solidFill>
              </a:defRPr>
            </a:pPr>
            <a:r>
              <a:t>  -&gt; opportunity.set_aside_code</a:t>
            </a:r>
          </a:p>
          <a:p>
            <a:pPr>
              <a:spcBef>
                <a:spcPts val="400"/>
              </a:spcBef>
              <a:defRPr sz="800" b="1">
                <a:solidFill>
                  <a:srgbClr val="616161"/>
                </a:solidFill>
              </a:defRPr>
            </a:pPr>
            <a:r>
              <a:t>ref_sba_type</a:t>
            </a:r>
          </a:p>
          <a:p>
            <a:pPr>
              <a:defRPr sz="700">
                <a:solidFill>
                  <a:srgbClr val="757575"/>
                </a:solidFill>
              </a:defRPr>
            </a:pPr>
            <a:r>
              <a:t>  -&gt; entity_sba_certification.sba_type_code</a:t>
            </a:r>
          </a:p>
          <a:p>
            <a:pPr>
              <a:spcBef>
                <a:spcPts val="400"/>
              </a:spcBef>
              <a:defRPr sz="800" b="1">
                <a:solidFill>
                  <a:srgbClr val="616161"/>
                </a:solidFill>
              </a:defRPr>
            </a:pPr>
            <a:r>
              <a:t>ref_business_type</a:t>
            </a:r>
          </a:p>
          <a:p>
            <a:pPr>
              <a:defRPr sz="700">
                <a:solidFill>
                  <a:srgbClr val="757575"/>
                </a:solidFill>
              </a:defRPr>
            </a:pPr>
            <a:r>
              <a:t>  -&gt; entity_business_type.business_type_code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